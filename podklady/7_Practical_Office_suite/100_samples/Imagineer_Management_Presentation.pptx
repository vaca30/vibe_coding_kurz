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</c:v>
                </c:pt>
                <c:pt idx="1">
                  <c:v>2.8</c:v>
                </c:pt>
                <c:pt idx="2">
                  <c:v>8.4</c:v>
                </c:pt>
                <c:pt idx="3">
                  <c:v>18.8</c:v>
                </c:pt>
                <c:pt idx="4">
                  <c:v>35.5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($M)</c:v>
                </c:pt>
              </c:strCache>
            </c:strRef>
          </c:tx>
          <c:spPr>
            <a:solidFill>
              <a:srgbClr val="E8A8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-1.5</c:v>
                </c:pt>
                <c:pt idx="1">
                  <c:v>-1.1</c:v>
                </c:pt>
                <c:pt idx="2">
                  <c:v>0.4</c:v>
                </c:pt>
                <c:pt idx="3">
                  <c:v>2.7</c:v>
                </c:pt>
                <c:pt idx="4">
                  <c:v>6.6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888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3333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-1.mp4"/><Relationship Id="rId2" Type="http://schemas.microsoft.com/office/2007/relationships/media" Target="../media/media-1-1.mp4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Imagineer</a:t>
            </a:r>
            <a:endParaRPr lang="en-US" sz="36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627632" y="1234440"/>
            <a:ext cx="5888736" cy="33101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617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4D5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Imagine It. Print It. Hold It.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  •  MANAGEMENT BRIEFING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Imagineer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4D5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Imagine It. Print It. Hold It.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AI-powered custom 3D printing for everyone.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6405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Management  •  April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-1371600"/>
            <a:ext cx="7315200" cy="7315200"/>
          </a:xfrm>
          <a:prstGeom prst="ellipse">
            <a:avLst/>
          </a:prstGeom>
          <a:solidFill>
            <a:srgbClr val="E8A838">
              <a:alpha val="12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AI has finally made
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creation </a:t>
            </a:r>
            <a:pPr indent="0" marL="0">
              <a:buNone/>
            </a:pPr>
            <a:r>
              <a:rPr lang="en-US" sz="4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effortless
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</a:t>
            </a:r>
            <a:pPr indent="0" marL="0">
              <a:buNone/>
            </a:pPr>
            <a:r>
              <a:rPr lang="en-US" sz="4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imagining it.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the first consumer-grade service to operationalize this end-to-end — from text or photo input to a finished printed object delivered to the customer's door.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Imagineer  •  Business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94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Imagination has a hardware tax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54864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087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turning an idea into a physical object requires three things most people don't have: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292608" cy="29260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1945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skills 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tools have a steep learning curve and weeks-to-months mastery time.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292608" cy="29260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278892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software 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Slicing, support generation, and print preparation require technical expertise.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38328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investment 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capable printer costs $500–$2,000 — plus filament, calibration, and maintenance.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023360"/>
            <a:ext cx="292608" cy="29260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39776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for failure 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experienced makers experience 15–25% print failure rates.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457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77724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Describe.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Receive.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02920" y="310896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describe what they want or upload a reference image. Our AI generates a 3D model. They preview, refine, and approve it directly in the browser. We print, finish, and ship the piece.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47777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Imagineer  •  Business Plan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Imagineer  •  Business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94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text to physical object in six steps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54864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286000"/>
            <a:ext cx="7498080" cy="0"/>
          </a:xfrm>
          <a:prstGeom prst="line">
            <a:avLst/>
          </a:prstGeom>
          <a:noFill/>
          <a:ln w="25400">
            <a:solidFill>
              <a:srgbClr val="2C5F8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30352" y="1993392"/>
            <a:ext cx="585216" cy="585216"/>
          </a:xfrm>
          <a:prstGeom prst="ellipse">
            <a:avLst/>
          </a:prstGeom>
          <a:solidFill>
            <a:srgbClr val="1B3A5C"/>
          </a:solidFill>
          <a:ln w="25400">
            <a:solidFill>
              <a:srgbClr val="E8A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9933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Describe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" y="3154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or upload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29968" y="1993392"/>
            <a:ext cx="585216" cy="585216"/>
          </a:xfrm>
          <a:prstGeom prst="ellipse">
            <a:avLst/>
          </a:prstGeom>
          <a:solidFill>
            <a:srgbClr val="1B3A5C"/>
          </a:solidFill>
          <a:ln w="25400">
            <a:solidFill>
              <a:srgbClr val="E8A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9968" y="19933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45336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45336" y="3154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creates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3D model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29584" y="1993392"/>
            <a:ext cx="585216" cy="585216"/>
          </a:xfrm>
          <a:prstGeom prst="ellipse">
            <a:avLst/>
          </a:prstGeom>
          <a:solidFill>
            <a:srgbClr val="1B3A5C"/>
          </a:solidFill>
          <a:ln w="2540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9584" y="19933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044952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44952" y="3154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1993392"/>
            <a:ext cx="585216" cy="585216"/>
          </a:xfrm>
          <a:prstGeom prst="ellipse">
            <a:avLst/>
          </a:prstGeom>
          <a:solidFill>
            <a:srgbClr val="1B3A5C"/>
          </a:solidFill>
          <a:ln w="25400">
            <a:solidFill>
              <a:srgbClr val="E8A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9933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44568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44568" y="3154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material,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color, size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28816" y="1993392"/>
            <a:ext cx="585216" cy="585216"/>
          </a:xfrm>
          <a:prstGeom prst="ellipse">
            <a:avLst/>
          </a:prstGeom>
          <a:solidFill>
            <a:srgbClr val="1B3A5C"/>
          </a:solidFill>
          <a:ln w="25400">
            <a:solidFill>
              <a:srgbClr val="E8A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28816" y="19933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044184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44184" y="3154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28432" y="1993392"/>
            <a:ext cx="585216" cy="585216"/>
          </a:xfrm>
          <a:prstGeom prst="ellipse">
            <a:avLst/>
          </a:prstGeom>
          <a:solidFill>
            <a:srgbClr val="1B3A5C"/>
          </a:solidFill>
          <a:ln w="25400">
            <a:solidFill>
              <a:srgbClr val="E8A8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28432" y="19933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54380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Receive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543800" y="3154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Print, finish,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ship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2519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end-to-end turnaround: 5–7 days at launch  →  2–3 days by Year 3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market that's been waiting for a usable on-ramp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$18B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3154680" y="1828800"/>
            <a:ext cx="18288" cy="2377440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383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3D printing market by 2030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18288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20%+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5715000" y="1828800"/>
            <a:ext cx="18288" cy="2377440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3383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growth rate (CAGR)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0" y="18288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$420M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5852160" y="3383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Imagineer's serviceable market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6405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markets: $30B+ custom gifts  •  $2B+ tabletop gaming  •  $5B+ rapid prototyping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Imagineer  •  Business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94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core segments, one shared frustration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54864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5448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554480"/>
            <a:ext cx="54864" cy="15087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190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Hobbyist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 avg order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331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Tinkerers and makers who want decorative and functional one-offs without owning a printer.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55448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554480"/>
            <a:ext cx="54864" cy="15087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7190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Gift Buyer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2057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 avg order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331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Occasion-driven shoppers seeking truly personalized presents — birthdays, weddings, holidays.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2461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246120"/>
            <a:ext cx="54864" cy="15087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4107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Tabletop Gamer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 avg order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023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D&amp;D, Warhammer, and board-game enthusiasts ordering custom miniatures and terrain pieces.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32461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3246120"/>
            <a:ext cx="54864" cy="15087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4107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Designer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4632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 avg order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4023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 designers and freelancers prototyping product ideas without the overhead of a CAD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Imagineer  •  Business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94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win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54864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00200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002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Quo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6002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Imagineer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Requires CAD modeling skills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describe in plain language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788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Buy a printer + supplies upfront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2788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capex — pay only per object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Service bureaus take 2–3 weeks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 2–7 days end-to-end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611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Print failures cost the customer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3611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failures are our problem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023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Piecing together vendors and steps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4023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trusted source, fully integrated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526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moat compounds: a data flywheel of approved prints, vertical operations, and brand trust as the consumer category leader.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Imagineer  •  Business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94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Margins that scale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54864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91640"/>
            <a:ext cx="1863090" cy="260604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920240"/>
            <a:ext cx="64008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18630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$58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order revenue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1588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material tiers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94610" y="1691640"/>
            <a:ext cx="1863090" cy="260604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3210" y="1920240"/>
            <a:ext cx="64008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94610" y="2103120"/>
            <a:ext cx="18630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48%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2731770" y="3337560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Gross margin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31770" y="3703320"/>
            <a:ext cx="1588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materials, labor, equip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86300" y="1691640"/>
            <a:ext cx="1863090" cy="260604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14900" y="1920240"/>
            <a:ext cx="64008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2103120"/>
            <a:ext cx="18630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4823460" y="3337560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Contribution margin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23460" y="3703320"/>
            <a:ext cx="1588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acquisition cost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77990" y="1691640"/>
            <a:ext cx="1863090" cy="260604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6350">
            <a:solidFill>
              <a:srgbClr val="DDE4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06590" y="1920240"/>
            <a:ext cx="64008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77990" y="2103120"/>
            <a:ext cx="18630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6915150" y="3337560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acquisition cost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15150" y="3703320"/>
            <a:ext cx="1588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across channels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Imagineer  •  Business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94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trajectory &amp; path to profit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54864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502920" y="1508760"/>
          <a:ext cx="8229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4617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EBITDA-positive in Year 3 at $8.4M revenue  •  Y5: $35.5M revenue, $6.6M EBITDA  •  Driven by repeat purchase rate growth and CAC efficiency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Imagineer  •  Business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94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24-month execution plan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54864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286000"/>
            <a:ext cx="6949440" cy="0"/>
          </a:xfrm>
          <a:prstGeom prst="line">
            <a:avLst/>
          </a:prstGeom>
          <a:noFill/>
          <a:ln w="38100">
            <a:solidFill>
              <a:srgbClr val="E8A8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1B3A5C"/>
          </a:solidFill>
          <a:ln w="31750">
            <a:solidFill>
              <a:srgbClr val="E8A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65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Q1–Q2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0" y="32004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seed, deploy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12 printers,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beta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93720" y="1965960"/>
            <a:ext cx="640080" cy="640080"/>
          </a:xfrm>
          <a:prstGeom prst="ellipse">
            <a:avLst/>
          </a:prstGeom>
          <a:solidFill>
            <a:srgbClr val="1B3A5C"/>
          </a:solidFill>
          <a:ln w="31750">
            <a:solidFill>
              <a:srgbClr val="E8A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56560" y="1965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Q3–Q4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1648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 Launch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16480" y="32004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ordering,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resin &amp; multi-color,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4,000+ orders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10200" y="1965960"/>
            <a:ext cx="640080" cy="640080"/>
          </a:xfrm>
          <a:prstGeom prst="ellipse">
            <a:avLst/>
          </a:prstGeom>
          <a:solidFill>
            <a:srgbClr val="1B3A5C"/>
          </a:solidFill>
          <a:ln w="3175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73040" y="1965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Q5–Q6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3296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&amp; Optimize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32960" y="32004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 &lt;5%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26680" y="1965960"/>
            <a:ext cx="640080" cy="640080"/>
          </a:xfrm>
          <a:prstGeom prst="ellipse">
            <a:avLst/>
          </a:prstGeom>
          <a:solidFill>
            <a:srgbClr val="1B3A5C"/>
          </a:solidFill>
          <a:ln w="31750">
            <a:solidFill>
              <a:srgbClr val="E8A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1965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Q7–Q8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Series A Ready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32004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facility,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$300K+ MRR,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unit economics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$2.5M seed round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fund 24 months of focused execution toward a Series A from a position of strength.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capacity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2267712"/>
            <a:ext cx="3657600" cy="16459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2267712"/>
            <a:ext cx="3657600" cy="1645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219456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$900K  •  36%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5420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AI team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08960" y="2615184"/>
            <a:ext cx="3657600" cy="16459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2615184"/>
            <a:ext cx="2844800" cy="1645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254203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$700K  •  28%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889504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acquisition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08960" y="2962656"/>
            <a:ext cx="3657600" cy="16459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08960" y="2962656"/>
            <a:ext cx="1828800" cy="1645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288950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$450K  •  18%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236976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supplies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08960" y="3310128"/>
            <a:ext cx="3657600" cy="16459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08960" y="3310128"/>
            <a:ext cx="812800" cy="1645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323697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  •  8%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58444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G&amp;A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08960" y="3657600"/>
            <a:ext cx="3657600" cy="16459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08960" y="3657600"/>
            <a:ext cx="609600" cy="1645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358444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  •  6%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393192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/ contingency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108960" y="4005072"/>
            <a:ext cx="3657600" cy="16459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08960" y="4005072"/>
            <a:ext cx="406400" cy="1645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393192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 •  4%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Imagineer  •  Business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94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trends converging at the same moment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54864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1B3A5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164592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is print-ready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Text-to-3D quality crossed the production threshold in 2024–2025 — for the first time, AI output is consistently usable without expert clean-up.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1B3A5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260604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is the premium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consistently pay 30–60% more for customized goods. Mass-produced is increasingly seen as the cheap option.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1B3A5C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356616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is the expectation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Sub-week delivery is now the baseline across consumer categories. The market is primed for fast custom physical goods.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8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INVITATION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 us make physical creation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effortless as imagination.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251960" y="3520440"/>
            <a:ext cx="64008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703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4D5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Imagineer  •  Imagine It. Print It. Hold It.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160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founders@imagineer.io  •  Confidential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Imagineer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Imagineer — Management Presentation</dc:title>
  <dc:subject>PptxGenJS Presentation</dc:subject>
  <dc:creator>Imagineer Founding Team</dc:creator>
  <cp:lastModifiedBy>Imagineer Founding Team</cp:lastModifiedBy>
  <cp:revision>1</cp:revision>
  <dcterms:created xsi:type="dcterms:W3CDTF">2026-04-30T17:53:21Z</dcterms:created>
  <dcterms:modified xsi:type="dcterms:W3CDTF">2026-04-30T17:53:21Z</dcterms:modified>
</cp:coreProperties>
</file>